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CB1C2"/>
                </a:solidFill>
                <a:latin typeface="Aptos"/>
              </a:rPr>
              <a:t>01 • ENJEU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745"/>
                </a:solidFill>
                <a:latin typeface="Aptos"/>
              </a:rPr>
              <a:t>Un front commun pour une expérience unifiée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77484"/>
                </a:solidFill>
                <a:latin typeface="Aptos"/>
              </a:rPr>
              <a:t>Rapprocher Salesforce et l’application RIA interne sans imposer une refonte complète des deux systèmes.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6F2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FRONT COMMUN • SALESFORCE + 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01 /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42745"/>
                </a:solidFill>
                <a:latin typeface="Aptos"/>
              </a:rPr>
              <a:t>Salesforce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77484"/>
                </a:solidFill>
                <a:latin typeface="Aptos"/>
              </a:rPr>
              <a:t>CRM &amp; parcours métier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96596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176272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42745"/>
                </a:solidFill>
                <a:latin typeface="Aptos"/>
              </a:rPr>
              <a:t>Application 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587752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77484"/>
                </a:solidFill>
                <a:latin typeface="Aptos"/>
              </a:rPr>
              <a:t>Fonctionnalités internes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783080"/>
            <a:ext cx="3840480" cy="1508760"/>
          </a:xfrm>
          <a:prstGeom prst="roundRect">
            <a:avLst>
              <a:gd name="adj" fmla="val 12000"/>
            </a:avLst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029968"/>
            <a:ext cx="3337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FRONT COMMUN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42032"/>
            <a:ext cx="3291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Navigation • identité visuelle
parcours utilisateur cohérent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74720" y="2542032"/>
            <a:ext cx="685800" cy="0"/>
          </a:xfrm>
          <a:prstGeom prst="line">
            <a:avLst/>
          </a:prstGeom>
          <a:ln w="38100">
            <a:solidFill>
              <a:srgbClr val="2CB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01000" y="2542032"/>
            <a:ext cx="731520" cy="0"/>
          </a:xfrm>
          <a:prstGeom prst="line">
            <a:avLst/>
          </a:prstGeom>
          <a:ln w="38100">
            <a:solidFill>
              <a:srgbClr val="2CB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4069080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79392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D69BE"/>
                </a:solidFill>
                <a:latin typeface="Aptos"/>
              </a:rPr>
              <a:t>Expérience homogène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45152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D3848"/>
                </a:solidFill>
                <a:latin typeface="Aptos"/>
              </a:rPr>
              <a:t>Une interface cohérente et des parcours continus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069080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279392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D69BE"/>
                </a:solidFill>
                <a:latin typeface="Aptos"/>
              </a:rPr>
              <a:t>Autonomie des équipes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645152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D3848"/>
                </a:solidFill>
                <a:latin typeface="Aptos"/>
              </a:rPr>
              <a:t>Chaque domaine conserve son rythme d’évolution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4069080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9" y="4279392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D69BE"/>
                </a:solidFill>
                <a:latin typeface="Aptos"/>
              </a:rPr>
              <a:t>Évolution progressive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4645152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D3848"/>
                </a:solidFill>
                <a:latin typeface="Aptos"/>
              </a:rPr>
              <a:t>Réutiliser l’existant et limiter le couplage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71500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745"/>
                </a:solidFill>
                <a:latin typeface="Aptos"/>
              </a:rPr>
              <a:t>Principe : un point d’entrée commun, des capacités fonctionnelles qui restent découplées.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CB1C2"/>
                </a:solidFill>
                <a:latin typeface="Aptos"/>
              </a:rPr>
              <a:t>02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745"/>
                </a:solidFill>
                <a:latin typeface="Aptos"/>
              </a:rPr>
              <a:t>Une architecture microfrontend avec Webpack Module Federation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77484"/>
                </a:solidFill>
                <a:latin typeface="Aptos"/>
              </a:rPr>
              <a:t>Composer une expérience unique à partir de modules front autonomes, chargés à l’exécution.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6F2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FRONT COMMUN • SALESFORCE + 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02 /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783080"/>
            <a:ext cx="6263640" cy="822960"/>
          </a:xfrm>
          <a:prstGeom prst="roundRect">
            <a:avLst>
              <a:gd name="adj" fmla="val 12000"/>
            </a:avLst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938528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SHELL / CONTENEUR COMMUN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276856"/>
            <a:ext cx="5715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Routing • layout • navigation • gestion de session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965960" y="2606040"/>
            <a:ext cx="4142232" cy="457200"/>
          </a:xfrm>
          <a:prstGeom prst="line">
            <a:avLst/>
          </a:prstGeom>
          <a:ln w="22860">
            <a:solidFill>
              <a:srgbClr val="2CB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800600" y="2606040"/>
            <a:ext cx="1307592" cy="457200"/>
          </a:xfrm>
          <a:prstGeom prst="line">
            <a:avLst/>
          </a:prstGeom>
          <a:ln w="22860">
            <a:solidFill>
              <a:srgbClr val="2CB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08192" y="2606040"/>
            <a:ext cx="1344168" cy="457200"/>
          </a:xfrm>
          <a:prstGeom prst="line">
            <a:avLst/>
          </a:prstGeom>
          <a:ln w="22860">
            <a:solidFill>
              <a:srgbClr val="2CB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08192" y="2606040"/>
            <a:ext cx="4087368" cy="457200"/>
          </a:xfrm>
          <a:prstGeom prst="line">
            <a:avLst/>
          </a:prstGeom>
          <a:ln w="22860">
            <a:solidFill>
              <a:srgbClr val="2CB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315468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154680"/>
            <a:ext cx="2514600" cy="109728"/>
          </a:xfrm>
          <a:prstGeom prst="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401568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5"/>
                </a:solidFill>
                <a:latin typeface="Aptos"/>
              </a:rPr>
              <a:t>MF Salesforce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49039"/>
            <a:ext cx="2286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77484"/>
                </a:solidFill>
                <a:latin typeface="Aptos"/>
              </a:rPr>
              <a:t>Écrans / composants
CRM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15468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3154680"/>
            <a:ext cx="2514600" cy="109728"/>
          </a:xfrm>
          <a:prstGeom prst="rect">
            <a:avLst/>
          </a:prstGeom>
          <a:solidFill>
            <a:srgbClr val="318F70"/>
          </a:solidFill>
          <a:ln>
            <a:solidFill>
              <a:srgbClr val="318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3401568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5"/>
                </a:solidFill>
                <a:latin typeface="Aptos"/>
              </a:rPr>
              <a:t>MF 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3749039"/>
            <a:ext cx="2286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77484"/>
                </a:solidFill>
                <a:latin typeface="Aptos"/>
              </a:rPr>
              <a:t>Fonctionnalités
internes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15468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154680"/>
            <a:ext cx="2514600" cy="109728"/>
          </a:xfrm>
          <a:prstGeom prst="rect">
            <a:avLst/>
          </a:prstGeom>
          <a:solidFill>
            <a:srgbClr val="E09136"/>
          </a:solidFill>
          <a:ln>
            <a:solidFill>
              <a:srgbClr val="E09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3401568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5"/>
                </a:solidFill>
                <a:latin typeface="Aptos"/>
              </a:rPr>
              <a:t>MF transverse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3749039"/>
            <a:ext cx="2286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77484"/>
                </a:solidFill>
                <a:latin typeface="Aptos"/>
              </a:rPr>
              <a:t>Recherche, aide,
services partagés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315468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3154680"/>
            <a:ext cx="2514600" cy="109728"/>
          </a:xfrm>
          <a:prstGeom prst="rect">
            <a:avLst/>
          </a:prstGeom>
          <a:solidFill>
            <a:srgbClr val="2CB1C2"/>
          </a:solidFill>
          <a:ln>
            <a:solidFill>
              <a:srgbClr val="2C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16567" y="3401568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5"/>
                </a:solidFill>
                <a:latin typeface="Aptos"/>
              </a:rPr>
              <a:t>MF à venir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749039"/>
            <a:ext cx="2286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77484"/>
                </a:solidFill>
                <a:latin typeface="Aptos"/>
              </a:rPr>
              <a:t>Nouveaux domaines
fonctionnels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709160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92040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5"/>
                </a:solidFill>
                <a:latin typeface="Aptos"/>
              </a:rPr>
              <a:t>WEBPACK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864608"/>
            <a:ext cx="81838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848"/>
                </a:solidFill>
                <a:latin typeface="Aptos"/>
              </a:rPr>
              <a:t>Module Federation : expose / consomme des modules et dépendances partagés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77484"/>
                </a:solidFill>
                <a:latin typeface="Aptos"/>
              </a:rPr>
              <a:t>À cadrer : versioning des modules • stratégie de fallback • compatibilité des dépendances • observabilité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CB1C2"/>
                </a:solidFill>
                <a:latin typeface="Aptos"/>
              </a:rPr>
              <a:t>03 • CIBLE &amp; TRAJECTOIRE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745"/>
                </a:solidFill>
                <a:latin typeface="Aptos"/>
              </a:rPr>
              <a:t>Une cible modulaire, sécurisée et déployable progressivement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77484"/>
                </a:solidFill>
                <a:latin typeface="Aptos"/>
              </a:rPr>
              <a:t>La fédération de modules facilite l’assemblage ; elle nécessite des règles communes d’intégration.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6F2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FRONT COMMUN • SALESFORCE + 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03 /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120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B1C2"/>
                </a:solidFill>
                <a:latin typeface="Aptos"/>
              </a:rPr>
              <a:t>VUE CIBLE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4846320" cy="621792"/>
          </a:xfrm>
          <a:prstGeom prst="roundRect">
            <a:avLst>
              <a:gd name="adj" fmla="val 12000"/>
            </a:avLst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95144"/>
            <a:ext cx="45171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Portail / Shell commun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4846320" cy="621792"/>
          </a:xfrm>
          <a:prstGeom prst="roundRect">
            <a:avLst>
              <a:gd name="adj" fmla="val 12000"/>
            </a:avLst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118104"/>
            <a:ext cx="45171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Microfrontends (Salesforce • RIA • transverse)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4846320" cy="621792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941064"/>
            <a:ext cx="45171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D3848"/>
                </a:solidFill>
                <a:latin typeface="Aptos"/>
              </a:rPr>
              <a:t>Services partagés (auth, design system, logs)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4846320" cy="621792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764024"/>
            <a:ext cx="45171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D3848"/>
                </a:solidFill>
                <a:latin typeface="Aptos"/>
              </a:rPr>
              <a:t>APIs &amp; systèmes existants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54680" y="2770632"/>
            <a:ext cx="0" cy="164592"/>
          </a:xfrm>
          <a:prstGeom prst="line">
            <a:avLst/>
          </a:prstGeom>
          <a:ln w="25400">
            <a:solidFill>
              <a:srgbClr val="2CB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54680" y="3593592"/>
            <a:ext cx="0" cy="164592"/>
          </a:xfrm>
          <a:prstGeom prst="line">
            <a:avLst/>
          </a:prstGeom>
          <a:ln w="25400">
            <a:solidFill>
              <a:srgbClr val="2CB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54680" y="4416552"/>
            <a:ext cx="0" cy="164592"/>
          </a:xfrm>
          <a:prstGeom prst="line">
            <a:avLst/>
          </a:prstGeom>
          <a:ln w="25400">
            <a:solidFill>
              <a:srgbClr val="2CB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0" y="1737360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B1C2"/>
                </a:solidFill>
                <a:latin typeface="Aptos"/>
              </a:rPr>
              <a:t>MISE EN ŒUVRE PAR ÉTAPES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148840"/>
            <a:ext cx="438912" cy="438912"/>
          </a:xfrm>
          <a:prstGeom prst="ellipse">
            <a:avLst/>
          </a:prstGeom>
          <a:solidFill>
            <a:srgbClr val="2CB1C2"/>
          </a:solidFill>
          <a:ln>
            <a:solidFill>
              <a:srgbClr val="2C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22199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139696"/>
            <a:ext cx="3931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745"/>
                </a:solidFill>
                <a:latin typeface="Aptos"/>
              </a:rPr>
              <a:t>Cadrer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2414016"/>
            <a:ext cx="4206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Périmètre du shell, routing, identité, sécurité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2953512"/>
            <a:ext cx="438912" cy="438912"/>
          </a:xfrm>
          <a:prstGeom prst="ellipse">
            <a:avLst/>
          </a:prstGeom>
          <a:solidFill>
            <a:srgbClr val="2CB1C2"/>
          </a:solidFill>
          <a:ln>
            <a:solidFill>
              <a:srgbClr val="2C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026664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944368"/>
            <a:ext cx="3931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745"/>
                </a:solidFill>
                <a:latin typeface="Aptos"/>
              </a:rPr>
              <a:t>Prouver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3218688"/>
            <a:ext cx="4206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POC Module Federation sur un parcours représentatif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758184"/>
            <a:ext cx="438912" cy="438912"/>
          </a:xfrm>
          <a:prstGeom prst="ellipse">
            <a:avLst/>
          </a:prstGeom>
          <a:solidFill>
            <a:srgbClr val="2CB1C2"/>
          </a:solidFill>
          <a:ln>
            <a:solidFill>
              <a:srgbClr val="2C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831336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3749040"/>
            <a:ext cx="3931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745"/>
                </a:solidFill>
                <a:latin typeface="Aptos"/>
              </a:rPr>
              <a:t>Industrialiser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4023360"/>
            <a:ext cx="4206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CI/CD, contrats de version, tests d’intégration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4562856"/>
            <a:ext cx="438912" cy="438912"/>
          </a:xfrm>
          <a:prstGeom prst="ellipse">
            <a:avLst/>
          </a:prstGeom>
          <a:solidFill>
            <a:srgbClr val="2CB1C2"/>
          </a:solidFill>
          <a:ln>
            <a:solidFill>
              <a:srgbClr val="2C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63600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4553712"/>
            <a:ext cx="3931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745"/>
                </a:solidFill>
                <a:latin typeface="Aptos"/>
              </a:rPr>
              <a:t>Étendre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4828032"/>
            <a:ext cx="4206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Migrer les écrans par domaine, sans big bang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486400"/>
            <a:ext cx="4846320" cy="50292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605272"/>
            <a:ext cx="4480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09136"/>
                </a:solidFill>
                <a:latin typeface="Aptos"/>
              </a:rPr>
              <a:t>Point de vigilance : Module Federation n’est pas un bus de données.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